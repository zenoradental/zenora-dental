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here. Do not read the slide. Say: 'Two minutes, then I'll ask you a question.' Keep this slide up for under 20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of this slide: they have no procurement, no committee. And competition is genuinely rising. Don't linger — 45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slide. Ask before advancing: 'When a patient calls you at 8:30pm, what happens?' Then wait. Let them answer. Their answer is the sale.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buys you credibility. Dentists have been lied to by agencies. Saying 'most patients prefer the phone' out loud is disarming — and it sets up Priority Leads as the hero feature.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short — 40 seconds. The demo does the real work. Do not read the bullets aloud.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this out loud while showing the live site on your phone. Do not just present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SLOW DOWN HERE. This is the moment they buy. Switch to the live dashboard and drag a real card. Then stop talking and let them ask for the mouse.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Reviews are the thing every dentist already worries about. Land that point hard — it is a genuine differentiator versus a plain agency website.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disclaimer line at the bottom is deliberate — it protects you. If they ask about SMS, say it is roadmap, not included. Never promise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on Professional. Say the number once, calmly, then move immediately to the ROI slide. Do not apologise for the price and do not fill the silence.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question. Then STOP TALKING. Whoever speaks first loses. Count to ten in your head if you have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use this slide if they raise an alternative. If they haven't, skip it — don't introduce competitors they weren't thinking about.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Speed is a genuine differentiator against local agencies. Commit to the date out loud — then actually hit it, because client one is your case study.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assumptive: 'Do you want to start with Professional, or would Clinic Plus fit better with the second chair coming?' Then be quiet.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371600"/>
            <a:ext cx="4937760" cy="4937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2926080" cy="2926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WHITEFOX AI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Zenora Dental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777240" y="3127248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booking website and front-desk dashboard</a:t>
            </a:r>
            <a:endParaRPr lang="en-US" sz="19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dental clinics.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77240" y="4343400"/>
            <a:ext cx="3246120" cy="566928"/>
          </a:xfrm>
          <a:prstGeom prst="roundRect">
            <a:avLst>
              <a:gd name="adj" fmla="val 16129"/>
            </a:avLst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434340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7 days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5806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A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 ·  Dr. [Clinic Owner Name],  [Clinic Name]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65,421 dental clinics in India.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Almost all of them are one dentist.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3774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65,421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3182112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Dental clinics in India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of April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214884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17720" y="23774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93.3%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617720" y="3182112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single-owner —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the decision maker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214884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21040" y="23774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376,721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321040" y="3182112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dentists —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is rising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315968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0A2E36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05840" y="452628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i="1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dentists than ever are competing for the same patients. The clinics that win are not the ones with better dentistry — they are the ones a patient can actually reach at 9pm.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59893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Rentech Digital clinic census (Apr 2026) · Dental Council of India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are not losing patients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because your dentistry is worse.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b="1" dirty="0">
                <a:solidFill>
                  <a:srgbClr val="C25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3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640080" y="38404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to a dental clinic go unanswered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busy hours.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7548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patients do not call back.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call the next clinic on Google.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80760" y="2514600"/>
            <a:ext cx="5440680" cy="932688"/>
          </a:xfrm>
          <a:prstGeom prst="roundRect">
            <a:avLst>
              <a:gd name="adj" fmla="val 9804"/>
            </a:avLst>
          </a:prstGeom>
          <a:solidFill>
            <a:srgbClr val="12414A"/>
          </a:solidFill>
          <a:ln/>
        </p:spPr>
      </p:sp>
      <p:sp>
        <p:nvSpPr>
          <p:cNvPr id="8" name="Text 6"/>
          <p:cNvSpPr/>
          <p:nvPr/>
        </p:nvSpPr>
        <p:spPr>
          <a:xfrm>
            <a:off x="6355080" y="263347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71%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355080" y="3017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dental appointments are still booked by phone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0760" y="3630168"/>
            <a:ext cx="5440680" cy="932688"/>
          </a:xfrm>
          <a:prstGeom prst="roundRect">
            <a:avLst>
              <a:gd name="adj" fmla="val 9804"/>
            </a:avLst>
          </a:prstGeom>
          <a:solidFill>
            <a:srgbClr val="12414A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374904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₹100k–150k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355080" y="41330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annually (USD) by practices missing 20–38% of calls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4745736"/>
            <a:ext cx="5440680" cy="932688"/>
          </a:xfrm>
          <a:prstGeom prst="roundRect">
            <a:avLst>
              <a:gd name="adj" fmla="val 9804"/>
            </a:avLst>
          </a:prstGeom>
          <a:solidFill>
            <a:srgbClr val="12414A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486460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355080" y="524865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missed calls are someone trying to book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614476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AgentZap dental phone statistics 2026 · Resonate missed-call research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BE ACCURATE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patients still prefer the phone.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is exactly the point.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2120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37744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67%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60120" y="30632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dental patients prefer to book by phone.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35204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are not going to tell you that everybody books online now. They don't, and you know they don't.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2148840"/>
            <a:ext cx="5212080" cy="2148840"/>
          </a:xfrm>
          <a:prstGeom prst="roundRect">
            <a:avLst>
              <a:gd name="adj" fmla="val 5106"/>
            </a:avLst>
          </a:prstGeom>
          <a:solidFill>
            <a:srgbClr val="0A2E36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29400" y="23774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629400" y="283464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want to phone you. They just can't reach you — because you are with a patient, or it is 9pm, or the line is busy.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Zenora catches that patient instead of losing them.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45720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a patient who can't reach you is captured: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983480"/>
            <a:ext cx="3429000" cy="960120"/>
          </a:xfrm>
          <a:prstGeom prst="roundRect">
            <a:avLst>
              <a:gd name="adj" fmla="val 11429"/>
            </a:avLst>
          </a:prstGeom>
          <a:solidFill>
            <a:srgbClr val="E8F2F2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5230368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52303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89888" y="51389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book a slot themselves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389888" y="54132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Instantly, without speaking to anyone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43400" y="4983480"/>
            <a:ext cx="3429000" cy="960120"/>
          </a:xfrm>
          <a:prstGeom prst="roundRect">
            <a:avLst>
              <a:gd name="adj" fmla="val 11429"/>
            </a:avLst>
          </a:prstGeom>
          <a:solidFill>
            <a:srgbClr val="E8F2F2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5230368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0" y="52303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93208" y="51389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request a callback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93208" y="54132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as a Priority Lead in your dashboard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046720" y="4983480"/>
            <a:ext cx="3429000" cy="960120"/>
          </a:xfrm>
          <a:prstGeom prst="roundRect">
            <a:avLst>
              <a:gd name="adj" fmla="val 11429"/>
            </a:avLst>
          </a:prstGeom>
          <a:solidFill>
            <a:srgbClr val="E8F2F2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75320" y="5230368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8275320" y="52303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796528" y="51389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see a real clinic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796528" y="54132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site that looks worth waiting for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things, working together.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25780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860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54480" y="23134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your patients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60120" y="288036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fast, mobile-first clinic website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slot in 15 seconds — 6 services, date and time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callback instead, if they'd rather talk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confirmation email with a tracking ID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their own appointment status — without phoning you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2011680"/>
            <a:ext cx="5257800" cy="3246120"/>
          </a:xfrm>
          <a:prstGeom prst="roundRect">
            <a:avLst>
              <a:gd name="adj" fmla="val 3380"/>
            </a:avLst>
          </a:prstGeom>
          <a:solidFill>
            <a:srgbClr val="0A2E36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22860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78040" y="23134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your front desk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583680" y="288036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booking lands in one dashboard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Center — drag patients through today's flow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callback requests, flagged and filtered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doctors, generate invoices, export to Excel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bookings the moment you need to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5532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 to install. No training day. Your receptionist opens a browser.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patient at 9pm, start to finish.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450592"/>
            <a:ext cx="1051560" cy="347472"/>
          </a:xfrm>
          <a:prstGeom prst="roundRect">
            <a:avLst>
              <a:gd name="adj" fmla="val 21053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45059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9:04pm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96112" y="294436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searches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6112" y="3456432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"dentist near me" — lands on your site instead of a directory listing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18688" y="34290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29000" y="219456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85032" y="2450592"/>
            <a:ext cx="1051560" cy="347472"/>
          </a:xfrm>
          <a:prstGeom prst="roundRect">
            <a:avLst>
              <a:gd name="adj" fmla="val 21053"/>
            </a:avLst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3685032" y="245059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9:05pm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85032" y="294436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Books the slot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85032" y="3456432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Root Canal, Thursday 11am. Fifteen seconds. Nobody at your clinic did anything.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007608" y="34290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17920" y="219456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73952" y="2450592"/>
            <a:ext cx="1051560" cy="347472"/>
          </a:xfrm>
          <a:prstGeom prst="roundRect">
            <a:avLst>
              <a:gd name="adj" fmla="val 21053"/>
            </a:avLst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245059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9:05pm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73952" y="294436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Gets confirmation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73952" y="3456432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email with tracking ID, date, time and a status-check link — sent automatically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796528" y="34290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006840" y="219456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262872" y="2450592"/>
            <a:ext cx="1051560" cy="347472"/>
          </a:xfrm>
          <a:prstGeom prst="roundRect">
            <a:avLst>
              <a:gd name="adj" fmla="val 21053"/>
            </a:avLst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9262872" y="245059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8:30am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262872" y="294436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see it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262872" y="3456432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already at the top of your dashboard when the clinic opens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5349240"/>
            <a:ext cx="10881360" cy="777240"/>
          </a:xfrm>
          <a:prstGeom prst="roundRect">
            <a:avLst>
              <a:gd name="adj" fmla="val 14118"/>
            </a:avLst>
          </a:prstGeom>
          <a:solidFill>
            <a:srgbClr val="0A2E36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0080" y="53492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staff time spent: zero minutes.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 DESK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Command Center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C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in the clinic can see where every patient is — without shouting across reception.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12414A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4231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Room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97480" y="2404872"/>
            <a:ext cx="329184" cy="329184"/>
          </a:xfrm>
          <a:prstGeom prst="ellipse">
            <a:avLst/>
          </a:prstGeom>
          <a:solidFill>
            <a:srgbClr val="88B8BD"/>
          </a:solidFill>
          <a:ln/>
        </p:spPr>
      </p:sp>
      <p:sp>
        <p:nvSpPr>
          <p:cNvPr id="8" name="Text 6"/>
          <p:cNvSpPr/>
          <p:nvPr/>
        </p:nvSpPr>
        <p:spPr>
          <a:xfrm>
            <a:off x="2697480" y="2404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41248" y="2852928"/>
            <a:ext cx="2194560" cy="475488"/>
          </a:xfrm>
          <a:prstGeom prst="roundRect">
            <a:avLst>
              <a:gd name="adj" fmla="val 13462"/>
            </a:avLst>
          </a:prstGeom>
          <a:solidFill>
            <a:srgbClr val="1B5560"/>
          </a:solidFill>
          <a:ln/>
        </p:spPr>
      </p:sp>
      <p:sp>
        <p:nvSpPr>
          <p:cNvPr id="10" name="Text 8"/>
          <p:cNvSpPr/>
          <p:nvPr/>
        </p:nvSpPr>
        <p:spPr>
          <a:xfrm>
            <a:off x="987552" y="285292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 ·  APT1024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41248" y="3438144"/>
            <a:ext cx="2194560" cy="475488"/>
          </a:xfrm>
          <a:prstGeom prst="roundRect">
            <a:avLst>
              <a:gd name="adj" fmla="val 13462"/>
            </a:avLst>
          </a:prstGeom>
          <a:solidFill>
            <a:srgbClr val="1B5560"/>
          </a:solidFill>
          <a:ln/>
        </p:spPr>
      </p:sp>
      <p:sp>
        <p:nvSpPr>
          <p:cNvPr id="12" name="Text 10"/>
          <p:cNvSpPr/>
          <p:nvPr/>
        </p:nvSpPr>
        <p:spPr>
          <a:xfrm>
            <a:off x="987552" y="343814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 ·  APT1025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41248" y="4023360"/>
            <a:ext cx="2194560" cy="475488"/>
          </a:xfrm>
          <a:prstGeom prst="roundRect">
            <a:avLst>
              <a:gd name="adj" fmla="val 13462"/>
            </a:avLst>
          </a:prstGeom>
          <a:solidFill>
            <a:srgbClr val="1B5560"/>
          </a:solidFill>
          <a:ln/>
        </p:spPr>
      </p:sp>
      <p:sp>
        <p:nvSpPr>
          <p:cNvPr id="14" name="Text 12"/>
          <p:cNvSpPr/>
          <p:nvPr/>
        </p:nvSpPr>
        <p:spPr>
          <a:xfrm>
            <a:off x="987552" y="402336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 ·  APT1026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29000" y="224028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12414A"/>
          </a:solidFill>
          <a:ln/>
        </p:spPr>
      </p:sp>
      <p:sp>
        <p:nvSpPr>
          <p:cNvPr id="16" name="Text 14"/>
          <p:cNvSpPr/>
          <p:nvPr/>
        </p:nvSpPr>
        <p:spPr>
          <a:xfrm>
            <a:off x="3630168" y="24231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Checkup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0" y="2404872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0" y="2404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30168" y="2852928"/>
            <a:ext cx="2194560" cy="475488"/>
          </a:xfrm>
          <a:prstGeom prst="roundRect">
            <a:avLst>
              <a:gd name="adj" fmla="val 13462"/>
            </a:avLst>
          </a:prstGeom>
          <a:solidFill>
            <a:srgbClr val="1B5560"/>
          </a:solidFill>
          <a:ln/>
        </p:spPr>
      </p:sp>
      <p:sp>
        <p:nvSpPr>
          <p:cNvPr id="20" name="Text 18"/>
          <p:cNvSpPr/>
          <p:nvPr/>
        </p:nvSpPr>
        <p:spPr>
          <a:xfrm>
            <a:off x="3776472" y="285292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 ·  APT1027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30168" y="3438144"/>
            <a:ext cx="2194560" cy="475488"/>
          </a:xfrm>
          <a:prstGeom prst="roundRect">
            <a:avLst>
              <a:gd name="adj" fmla="val 13462"/>
            </a:avLst>
          </a:prstGeom>
          <a:solidFill>
            <a:srgbClr val="1B5560"/>
          </a:solidFill>
          <a:ln/>
        </p:spPr>
      </p:sp>
      <p:sp>
        <p:nvSpPr>
          <p:cNvPr id="22" name="Text 20"/>
          <p:cNvSpPr/>
          <p:nvPr/>
        </p:nvSpPr>
        <p:spPr>
          <a:xfrm>
            <a:off x="3776472" y="343814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 ·  APT1028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224028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12414A"/>
          </a:solidFill>
          <a:ln/>
        </p:spPr>
      </p:sp>
      <p:sp>
        <p:nvSpPr>
          <p:cNvPr id="24" name="Text 22"/>
          <p:cNvSpPr/>
          <p:nvPr/>
        </p:nvSpPr>
        <p:spPr>
          <a:xfrm>
            <a:off x="6419088" y="24231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275320" y="2404872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8275320" y="2404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19088" y="2852928"/>
            <a:ext cx="2194560" cy="475488"/>
          </a:xfrm>
          <a:prstGeom prst="roundRect">
            <a:avLst>
              <a:gd name="adj" fmla="val 13462"/>
            </a:avLst>
          </a:prstGeom>
          <a:solidFill>
            <a:srgbClr val="1B5560"/>
          </a:solidFill>
          <a:ln/>
        </p:spPr>
      </p:sp>
      <p:sp>
        <p:nvSpPr>
          <p:cNvPr id="28" name="Text 26"/>
          <p:cNvSpPr/>
          <p:nvPr/>
        </p:nvSpPr>
        <p:spPr>
          <a:xfrm>
            <a:off x="6565392" y="285292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 ·  APT1030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006840" y="224028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12414A"/>
          </a:solidFill>
          <a:ln/>
        </p:spPr>
      </p:sp>
      <p:sp>
        <p:nvSpPr>
          <p:cNvPr id="30" name="Text 28"/>
          <p:cNvSpPr/>
          <p:nvPr/>
        </p:nvSpPr>
        <p:spPr>
          <a:xfrm>
            <a:off x="9208008" y="24231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Discharged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1064240" y="2404872"/>
            <a:ext cx="329184" cy="329184"/>
          </a:xfrm>
          <a:prstGeom prst="ellipse">
            <a:avLst/>
          </a:prstGeom>
          <a:solidFill>
            <a:srgbClr val="88B8BD"/>
          </a:solidFill>
          <a:ln/>
        </p:spPr>
      </p:sp>
      <p:sp>
        <p:nvSpPr>
          <p:cNvPr id="32" name="Text 30"/>
          <p:cNvSpPr/>
          <p:nvPr/>
        </p:nvSpPr>
        <p:spPr>
          <a:xfrm>
            <a:off x="11064240" y="2404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208008" y="2852928"/>
            <a:ext cx="2194560" cy="475488"/>
          </a:xfrm>
          <a:prstGeom prst="roundRect">
            <a:avLst>
              <a:gd name="adj" fmla="val 13462"/>
            </a:avLst>
          </a:prstGeom>
          <a:solidFill>
            <a:srgbClr val="1B5560"/>
          </a:solidFill>
          <a:ln/>
        </p:spPr>
      </p:sp>
      <p:sp>
        <p:nvSpPr>
          <p:cNvPr id="34" name="Text 32"/>
          <p:cNvSpPr/>
          <p:nvPr/>
        </p:nvSpPr>
        <p:spPr>
          <a:xfrm>
            <a:off x="9354312" y="285292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 ·  APT1033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208008" y="3438144"/>
            <a:ext cx="2194560" cy="475488"/>
          </a:xfrm>
          <a:prstGeom prst="roundRect">
            <a:avLst>
              <a:gd name="adj" fmla="val 13462"/>
            </a:avLst>
          </a:prstGeom>
          <a:solidFill>
            <a:srgbClr val="1B5560"/>
          </a:solidFill>
          <a:ln/>
        </p:spPr>
      </p:sp>
      <p:sp>
        <p:nvSpPr>
          <p:cNvPr id="36" name="Text 34"/>
          <p:cNvSpPr/>
          <p:nvPr/>
        </p:nvSpPr>
        <p:spPr>
          <a:xfrm>
            <a:off x="9354312" y="343814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 ·  APT1034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208008" y="4023360"/>
            <a:ext cx="2194560" cy="475488"/>
          </a:xfrm>
          <a:prstGeom prst="roundRect">
            <a:avLst>
              <a:gd name="adj" fmla="val 13462"/>
            </a:avLst>
          </a:prstGeom>
          <a:solidFill>
            <a:srgbClr val="1B5560"/>
          </a:solidFill>
          <a:ln/>
        </p:spPr>
      </p:sp>
      <p:sp>
        <p:nvSpPr>
          <p:cNvPr id="38" name="Text 36"/>
          <p:cNvSpPr/>
          <p:nvPr/>
        </p:nvSpPr>
        <p:spPr>
          <a:xfrm>
            <a:off x="9354312" y="402336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 ·  APT1035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0080" y="51206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Drag a card. That is the entire training.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640080" y="55778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C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receptionist can use WhatsApp, she can use this on day one.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emails your clinic never has to write.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685800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194560"/>
            <a:ext cx="438912" cy="438912"/>
          </a:xfrm>
          <a:prstGeom prst="ellipse">
            <a:avLst/>
          </a:prstGeom>
          <a:solidFill>
            <a:srgbClr val="E8F2F2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194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21762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confirmed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2423160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ID, date, time, service — and a link to check status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825496"/>
            <a:ext cx="685800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41248" y="2916936"/>
            <a:ext cx="438912" cy="438912"/>
          </a:xfrm>
          <a:prstGeom prst="ellipse">
            <a:avLst/>
          </a:prstGeom>
          <a:solidFill>
            <a:srgbClr val="E8F2F2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29169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28986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145536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you confirm or change an appointment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547872"/>
            <a:ext cx="685800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" y="3639312"/>
            <a:ext cx="438912" cy="438912"/>
          </a:xfrm>
          <a:prstGeom prst="ellipse">
            <a:avLst/>
          </a:prstGeom>
          <a:solidFill>
            <a:srgbClr val="E8F2F2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36393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17320" y="36210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assigned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3867912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patient knows who they are seeing before they arrive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270248"/>
            <a:ext cx="685800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1248" y="4361688"/>
            <a:ext cx="438912" cy="438912"/>
          </a:xfrm>
          <a:prstGeom prst="ellipse">
            <a:avLst/>
          </a:prstGeom>
          <a:solidFill>
            <a:srgbClr val="E8F2F2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43616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17320" y="43434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changed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17320" y="459028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 clear before → after of the date, time or doctor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992624"/>
            <a:ext cx="6858000" cy="621792"/>
          </a:xfrm>
          <a:prstGeom prst="roundRect">
            <a:avLst>
              <a:gd name="adj" fmla="val 17647"/>
            </a:avLst>
          </a:prstGeom>
          <a:solidFill>
            <a:srgbClr val="0A2E36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41248" y="5084064"/>
            <a:ext cx="438912" cy="43891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" y="50840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17320" y="50657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completed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17320" y="5312664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Thank-you + a Google review request. This one runs forever.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863840" y="2103120"/>
            <a:ext cx="3657600" cy="3172968"/>
          </a:xfrm>
          <a:prstGeom prst="roundRect">
            <a:avLst>
              <a:gd name="adj" fmla="val 3458"/>
            </a:avLst>
          </a:prstGeom>
          <a:solidFill>
            <a:srgbClr val="0A2E36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183880" y="23774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 that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pays for itself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8183880" y="3291840"/>
            <a:ext cx="3063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 you mark a patient Completed, they get a thank-you email with a Google review link.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has to remember. Nobody has to ask awkwardly at the desk.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just runs — forever.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40080" y="55778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are branded to your clinic — your name, your colours, your contact details.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in the box.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057400"/>
            <a:ext cx="3429000" cy="566928"/>
          </a:xfrm>
          <a:prstGeom prst="roundRect">
            <a:avLst>
              <a:gd name="adj" fmla="val 19355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5740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website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788920"/>
            <a:ext cx="2880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Home, About, Services, Blog, Contact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Mobile-first, fast-loading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SEO: schema, Open Graph, canonical tags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booking, 6 services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callback capture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status page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205740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43400" y="2057400"/>
            <a:ext cx="3429000" cy="566928"/>
          </a:xfrm>
          <a:prstGeom prst="roundRect">
            <a:avLst>
              <a:gd name="adj" fmla="val 19355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205740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17720" y="2788920"/>
            <a:ext cx="2880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Center patient flow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Appointments: filter, search, sort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+ doctor records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view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generator (PDF, ₹)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 to Excel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46720" y="205740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0" y="2057400"/>
            <a:ext cx="3429000" cy="566928"/>
          </a:xfrm>
          <a:prstGeom prst="roundRect">
            <a:avLst>
              <a:gd name="adj" fmla="val 19355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8321040" y="205740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 scenes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21040" y="2788920"/>
            <a:ext cx="2880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Double-booking prevented server-side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bookings instantly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logins with role control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patient emails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hosting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+ custom domain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5852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included today: SMS/WhatsApp reminders, online payments, insurance claims, imaging. Ask us about the roadmap.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start.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3429000" cy="35204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2768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14400" y="262432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₹24,999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14400" y="315468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setup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341071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₹1,499 / month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813048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+ booking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emails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staff login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support (48h)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1874520"/>
            <a:ext cx="3429000" cy="3886200"/>
          </a:xfrm>
          <a:prstGeom prst="roundRect">
            <a:avLst>
              <a:gd name="adj" fmla="val 3200"/>
            </a:avLst>
          </a:prstGeom>
          <a:solidFill>
            <a:srgbClr val="0A2E36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2075688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07568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617720" y="20939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617720" y="244144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₹44,999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617720" y="297180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setup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17720" y="322783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₹2,499 / month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17720" y="3630168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Starter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Center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generator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staff logins · 5 doctors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included, year 1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review automation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support (24h)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46720" y="2057400"/>
            <a:ext cx="3429000" cy="35204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21040" y="22768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PLUS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321040" y="262432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₹79,999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8321040" y="315468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setup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321040" y="341071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₹4,499 / month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321040" y="3813048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Professional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logins + doctors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content changes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performance report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 (4h)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59893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annually and get two months free.  ·  Founding-client rate available for the first five clinics.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costs about one implant case.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3429000" cy="2103120"/>
          </a:xfrm>
          <a:prstGeom prst="roundRect">
            <a:avLst>
              <a:gd name="adj" fmla="val 5217"/>
            </a:avLst>
          </a:prstGeom>
          <a:solidFill>
            <a:srgbClr val="12414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304288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₹44,999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312724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setup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45643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FC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one implant case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2057400"/>
            <a:ext cx="3429000" cy="2103120"/>
          </a:xfrm>
          <a:prstGeom prst="roundRect">
            <a:avLst>
              <a:gd name="adj" fmla="val 5217"/>
            </a:avLst>
          </a:prstGeom>
          <a:solidFill>
            <a:srgbClr val="12414A"/>
          </a:solidFill>
          <a:ln/>
        </p:spPr>
      </p:sp>
      <p:sp>
        <p:nvSpPr>
          <p:cNvPr id="9" name="Text 7"/>
          <p:cNvSpPr/>
          <p:nvPr/>
        </p:nvSpPr>
        <p:spPr>
          <a:xfrm>
            <a:off x="4617720" y="2304288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₹2,499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617720" y="312724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17720" y="345643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FC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₹83 per day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2057400"/>
            <a:ext cx="3429000" cy="2103120"/>
          </a:xfrm>
          <a:prstGeom prst="roundRect">
            <a:avLst>
              <a:gd name="adj" fmla="val 5217"/>
            </a:avLst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2304288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321040" y="312724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patient a month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21040" y="345643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it has already paid for itself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526280"/>
            <a:ext cx="10881360" cy="1417320"/>
          </a:xfrm>
          <a:prstGeom prst="roundRect">
            <a:avLst>
              <a:gd name="adj" fmla="val 7742"/>
            </a:avLst>
          </a:prstGeom>
          <a:solidFill>
            <a:srgbClr val="12414A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754880"/>
            <a:ext cx="10149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So, honestly — if this brought you one extra patient a month,</a:t>
            </a:r>
            <a:endParaRPr lang="en-US" sz="24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would that be worth ₹83 a day?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else you could do with the money.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088136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1031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nothing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429000" y="21031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0" y="2103120"/>
            <a:ext cx="5623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keep losing the calls you already miss. Your competitor's site takes them.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852928"/>
            <a:ext cx="1088136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285292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Practo Ray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429000" y="285292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₹2,000+/mo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69280" y="2852928"/>
            <a:ext cx="5623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appear in a list next to twelve competing clinics. Their brand, not yours.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602736"/>
            <a:ext cx="1088136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60120" y="3602736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web agency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429000" y="3602736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₹20k–₹80k once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669280" y="3602736"/>
            <a:ext cx="5623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a brochure. No dashboard, no automation, and nobody answers in month six.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352544"/>
            <a:ext cx="1088136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0120" y="4352544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 on Wix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429000" y="4352544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₹500/mo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669280" y="4352544"/>
            <a:ext cx="5623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evenings. And still no front-desk dashboard.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5102352"/>
            <a:ext cx="10881360" cy="640080"/>
          </a:xfrm>
          <a:prstGeom prst="roundRect">
            <a:avLst>
              <a:gd name="adj" fmla="val 17143"/>
            </a:avLst>
          </a:prstGeom>
          <a:solidFill>
            <a:srgbClr val="0A2E36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60120" y="510235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Zenora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429000" y="510235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₹44,999 + ₹2,499/mo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69280" y="5102352"/>
            <a:ext cx="5623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brand, your patients, a real dashboard, automated emails — and a person you can call.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competitor is "do nothing." It is not free — it just bills you quietly.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in seven days.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057400" cy="27432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89888" y="2542032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389888" y="2542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Kickoff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913632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send logo, photos, doctor bios, services and hours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871216" y="2286000"/>
            <a:ext cx="2057400" cy="27432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21024" y="2542032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3621024" y="2542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054096" y="32461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2–4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54096" y="3520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054096" y="3913632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clinic's content, branding and services configured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102352" y="2286000"/>
            <a:ext cx="2057400" cy="27432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52160" y="2542032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5852160" y="2542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285232" y="32461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85232" y="3520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285232" y="3913632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walk through it and tell us what to change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333488" y="2286000"/>
            <a:ext cx="2057400" cy="27432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83296" y="2542032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8083296" y="2542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516368" y="32461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516368" y="3520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516368" y="3913632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minutes with your receptionist, live on the dashboard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564624" y="2286000"/>
            <a:ext cx="2057400" cy="27432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314432" y="2542032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10314432" y="2542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9747504" y="32461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747504" y="3520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747504" y="3913632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connected, SSL on, taking real bookings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0080" y="5257800"/>
            <a:ext cx="10881360" cy="868680"/>
          </a:xfrm>
          <a:prstGeom prst="roundRect">
            <a:avLst>
              <a:gd name="adj" fmla="val 12632"/>
            </a:avLst>
          </a:prstGeom>
          <a:solidFill>
            <a:srgbClr val="0A2E36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40080" y="52578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agencies quote six weeks. We commit to a live date in writing — and we hit it.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37360" y="3657600"/>
            <a:ext cx="5120640" cy="5120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554480"/>
            <a:ext cx="4023360" cy="40233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9164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get you booking</a:t>
            </a:r>
            <a:endParaRPr lang="en-US" sz="4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patients at 9pm.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33832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30-day pilot. If it hasn't brought you a patient, don't pay the setup fee.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14400" y="4206240"/>
            <a:ext cx="4114800" cy="658368"/>
          </a:xfrm>
          <a:prstGeom prst="roundRect">
            <a:avLst>
              <a:gd name="adj" fmla="val 13889"/>
            </a:avLst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20624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my clinic in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5349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WhiteFox AI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6875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A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87624 07565   ·   abhi.karnam4444@gmail.com   ·   whitefoxofficial.space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WhiteFox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Zenora Dental</dc:title>
  <dc:subject>PptxGenJS Presentation</dc:subject>
  <dc:creator>WhiteFox AI</dc:creator>
  <cp:lastModifiedBy>WhiteFox AI</cp:lastModifiedBy>
  <cp:revision>1</cp:revision>
  <dcterms:created xsi:type="dcterms:W3CDTF">2026-08-09T17:46:54Z</dcterms:created>
  <dcterms:modified xsi:type="dcterms:W3CDTF">2026-08-09T17:46:54Z</dcterms:modified>
</cp:coreProperties>
</file>